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7"/>
  </p:notesMasterIdLst>
  <p:handoutMasterIdLst>
    <p:handoutMasterId r:id="rId18"/>
  </p:handoutMasterIdLst>
  <p:sldIdLst>
    <p:sldId id="338" r:id="rId5"/>
    <p:sldId id="327" r:id="rId6"/>
    <p:sldId id="315" r:id="rId7"/>
    <p:sldId id="329" r:id="rId8"/>
    <p:sldId id="302" r:id="rId9"/>
    <p:sldId id="339" r:id="rId10"/>
    <p:sldId id="340" r:id="rId11"/>
    <p:sldId id="341" r:id="rId12"/>
    <p:sldId id="344" r:id="rId13"/>
    <p:sldId id="342" r:id="rId14"/>
    <p:sldId id="343" r:id="rId15"/>
    <p:sldId id="304"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1109B11-726B-622E-F1D0-53498C852A02}" v="122" dt="2025-09-25T09:02:38.153"/>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2" d="100"/>
          <a:sy n="82" d="100"/>
        </p:scale>
        <p:origin x="624" y="72"/>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10/9/2025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10/9/2025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10/9/2025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10/9/2025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10/9/2025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10/9/2025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10/9/2025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10/9/2025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4506687" y="3320905"/>
            <a:ext cx="5206274" cy="861497"/>
          </a:xfrm>
        </p:spPr>
        <p:txBody>
          <a:bodyPr>
            <a:normAutofit lnSpcReduction="10000"/>
          </a:bodyPr>
          <a:lstStyle/>
          <a:p>
            <a:pPr algn="r"/>
            <a:r>
              <a:rPr lang="en-US" sz="2400" b="0" dirty="0">
                <a:solidFill>
                  <a:srgbClr val="00B050"/>
                </a:solidFill>
              </a:rPr>
              <a:t>Chandramouleshwar J</a:t>
            </a:r>
          </a:p>
          <a:p>
            <a:pPr algn="r"/>
            <a:r>
              <a:rPr lang="en-US" b="0" dirty="0">
                <a:solidFill>
                  <a:srgbClr val="C00000"/>
                </a:solidFill>
              </a:rPr>
              <a:t> INTERNSHIP_17546440516895be537820f </a:t>
            </a: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819082" y="2050553"/>
            <a:ext cx="7551354" cy="743448"/>
          </a:xfrm>
        </p:spPr>
        <p:txBody>
          <a:bodyPr>
            <a:noAutofit/>
          </a:bodyPr>
          <a:lstStyle/>
          <a:p>
            <a:r>
              <a:rPr lang="en-IN" sz="4400" dirty="0"/>
              <a:t>Netflix Data Analysis Project</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p:txBody>
          <a:bodyPr>
            <a:normAutofit/>
          </a:bodyPr>
          <a:lstStyle/>
          <a:p>
            <a:r>
              <a:rPr lang="en-US" sz="4400" dirty="0">
                <a:solidFill>
                  <a:schemeClr val="tx1"/>
                </a:solidFill>
              </a:rPr>
              <a:t>PROBLEM  STATEMENT</a:t>
            </a:r>
            <a:endParaRPr lang="en-IN" sz="4400" dirty="0">
              <a:solidFill>
                <a:schemeClr val="tx1"/>
              </a:solidFill>
            </a:endParaRPr>
          </a:p>
        </p:txBody>
      </p:sp>
      <p:sp>
        <p:nvSpPr>
          <p:cNvPr id="2" name="Text Placeholder 1">
            <a:extLst>
              <a:ext uri="{FF2B5EF4-FFF2-40B4-BE49-F238E27FC236}">
                <a16:creationId xmlns:a16="http://schemas.microsoft.com/office/drawing/2014/main" id="{E46E4DD1-270B-4C80-AFF0-EB26F132AF36}"/>
              </a:ext>
            </a:extLst>
          </p:cNvPr>
          <p:cNvSpPr>
            <a:spLocks noGrp="1"/>
          </p:cNvSpPr>
          <p:nvPr>
            <p:ph idx="1"/>
          </p:nvPr>
        </p:nvSpPr>
        <p:spPr>
          <a:xfrm>
            <a:off x="677334" y="1819470"/>
            <a:ext cx="7318350" cy="3862874"/>
          </a:xfrm>
        </p:spPr>
        <p:txBody>
          <a:bodyPr>
            <a:normAutofit/>
          </a:bodyPr>
          <a:lstStyle/>
          <a:p>
            <a:r>
              <a:rPr lang="en-US" dirty="0"/>
              <a:t>Netflix has become one of the most prominent global streaming platforms, continuously expanding its library with a mix of original productions and licensed content. However, with growing competition from platforms like Amazon Prime, Disney+, and regional OTT providers, Netflix must strategically analyze its content catalog to identify strengths, gaps, and opportunities. </a:t>
            </a:r>
            <a:endParaRPr lang="en-IN" dirty="0"/>
          </a:p>
          <a:p>
            <a:r>
              <a:rPr lang="en-US" dirty="0"/>
              <a:t>The specific problem to be addressed in this project is </a:t>
            </a:r>
            <a:r>
              <a:rPr lang="en-US" b="1" dirty="0"/>
              <a:t>'Content Trends Analysis for Strategic Recommendations</a:t>
            </a:r>
            <a:r>
              <a:rPr lang="en-US" dirty="0"/>
              <a:t>'. The aim is to uncover how Netflix’s content distribution (Movies vs. TV Shows, genres, and country contributions) has evolved over the years. This will enable the identification of key genres, audience preferences, and strategic insights into global content expansion.</a:t>
            </a:r>
            <a:endParaRPr lang="en-IN" dirty="0"/>
          </a:p>
          <a:p>
            <a:pPr>
              <a:lnSpc>
                <a:spcPct val="150000"/>
              </a:lnSpc>
            </a:pPr>
            <a:endParaRPr lang="en-IN" sz="2800"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2"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p:txBody>
          <a:bodyPr>
            <a:noAutofit/>
          </a:bodyPr>
          <a:lstStyle/>
          <a:p>
            <a:r>
              <a:rPr lang="en-GB" sz="4400" dirty="0">
                <a:solidFill>
                  <a:schemeClr val="tx1"/>
                </a:solidFill>
              </a:rPr>
              <a:t>PROJECT DESCRIPTION</a:t>
            </a:r>
            <a:endParaRPr lang="en-IN" sz="4400" dirty="0"/>
          </a:p>
        </p:txBody>
      </p:sp>
      <p:sp>
        <p:nvSpPr>
          <p:cNvPr id="2" name="Content Placeholder 1">
            <a:extLst>
              <a:ext uri="{FF2B5EF4-FFF2-40B4-BE49-F238E27FC236}">
                <a16:creationId xmlns:a16="http://schemas.microsoft.com/office/drawing/2014/main" id="{4A69519F-5807-C0F5-4B6F-FCD903C21EF2}"/>
              </a:ext>
            </a:extLst>
          </p:cNvPr>
          <p:cNvSpPr>
            <a:spLocks noGrp="1"/>
          </p:cNvSpPr>
          <p:nvPr>
            <p:ph idx="1"/>
          </p:nvPr>
        </p:nvSpPr>
        <p:spPr>
          <a:xfrm>
            <a:off x="675956" y="1778033"/>
            <a:ext cx="8596669" cy="4053599"/>
          </a:xfrm>
        </p:spPr>
        <p:txBody>
          <a:bodyPr/>
          <a:lstStyle/>
          <a:p>
            <a:r>
              <a:rPr lang="en-US" dirty="0"/>
              <a:t>This project focuses on analyzing Netflix’s vast catalog of Movies and TV Shows to uncover </a:t>
            </a:r>
            <a:r>
              <a:rPr lang="en-US" b="1" dirty="0"/>
              <a:t>content trends and strategic insights</a:t>
            </a:r>
            <a:r>
              <a:rPr lang="en-US" dirty="0"/>
              <a:t>. Using data from 2008–2021, the analysis explores how </a:t>
            </a:r>
            <a:r>
              <a:rPr lang="en-US" b="1" dirty="0"/>
              <a:t>content distribution</a:t>
            </a:r>
            <a:r>
              <a:rPr lang="en-US" dirty="0"/>
              <a:t> across </a:t>
            </a:r>
            <a:r>
              <a:rPr lang="en-US" b="1" dirty="0"/>
              <a:t>genres, countries, and formats (Movies vs. TV Shows)</a:t>
            </a:r>
            <a:r>
              <a:rPr lang="en-US" dirty="0"/>
              <a:t> has evolved over time.</a:t>
            </a:r>
          </a:p>
          <a:p>
            <a:r>
              <a:rPr lang="en-US" dirty="0"/>
              <a:t>The goal is to identify </a:t>
            </a:r>
            <a:r>
              <a:rPr lang="en-US" b="1" dirty="0"/>
              <a:t>popular and underrepresented genres</a:t>
            </a:r>
            <a:r>
              <a:rPr lang="en-US" dirty="0"/>
              <a:t>, assess </a:t>
            </a:r>
            <a:r>
              <a:rPr lang="en-US" b="1" dirty="0"/>
              <a:t>country-wise contributions</a:t>
            </a:r>
            <a:r>
              <a:rPr lang="en-US" dirty="0"/>
              <a:t>, and understand Netflix’s </a:t>
            </a:r>
            <a:r>
              <a:rPr lang="en-US" b="1" dirty="0"/>
              <a:t>global content strategy</a:t>
            </a:r>
            <a:r>
              <a:rPr lang="en-US" dirty="0"/>
              <a:t>. By examining these trends, the project provides </a:t>
            </a:r>
            <a:r>
              <a:rPr lang="en-US" b="1" dirty="0"/>
              <a:t>data-driven recommendations</a:t>
            </a:r>
            <a:r>
              <a:rPr lang="en-US" dirty="0"/>
              <a:t> to help Netflix refine its </a:t>
            </a:r>
            <a:r>
              <a:rPr lang="en-US" b="1" dirty="0"/>
              <a:t>content acquisition, production, and audience engagement</a:t>
            </a:r>
            <a:r>
              <a:rPr lang="en-US" dirty="0"/>
              <a:t> strategies.</a:t>
            </a:r>
          </a:p>
          <a:p>
            <a:r>
              <a:rPr lang="en-US" dirty="0"/>
              <a:t>The outcomes aim to offer a </a:t>
            </a:r>
            <a:r>
              <a:rPr lang="en-US" b="1" dirty="0"/>
              <a:t>clear picture of Netflix’s evolving catalog</a:t>
            </a:r>
            <a:r>
              <a:rPr lang="en-US" dirty="0"/>
              <a:t>, highlight </a:t>
            </a:r>
            <a:r>
              <a:rPr lang="en-US" b="1" dirty="0"/>
              <a:t>top-performing content categories</a:t>
            </a:r>
            <a:r>
              <a:rPr lang="en-US" dirty="0"/>
              <a:t>, and support </a:t>
            </a:r>
            <a:r>
              <a:rPr lang="en-US" b="1" dirty="0"/>
              <a:t>strategic decision-making</a:t>
            </a:r>
            <a:r>
              <a:rPr lang="en-US" dirty="0"/>
              <a:t> in an increasingly competitive OTT landscape.</a:t>
            </a:r>
          </a:p>
          <a:p>
            <a:endParaRPr lang="en-IN" b="1"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8245359" cy="4269481"/>
          </a:xfrm>
        </p:spPr>
        <p:txBody>
          <a:bodyPr>
            <a:normAutofit/>
          </a:bodyPr>
          <a:lstStyle/>
          <a:p>
            <a:pPr algn="just">
              <a:lnSpc>
                <a:spcPct val="150000"/>
              </a:lnSpc>
            </a:pPr>
            <a:r>
              <a:rPr lang="en-US" sz="1800" b="1" dirty="0"/>
              <a:t>Netflix Content Strategy Team</a:t>
            </a:r>
            <a:r>
              <a:rPr lang="en-US" sz="1800" dirty="0"/>
              <a:t> – to identify trends and make data-driven decisions on future content acquisition and production.</a:t>
            </a:r>
          </a:p>
          <a:p>
            <a:pPr algn="just">
              <a:lnSpc>
                <a:spcPct val="150000"/>
              </a:lnSpc>
            </a:pPr>
            <a:r>
              <a:rPr lang="en-US" sz="1800" b="1" dirty="0"/>
              <a:t>Marketing and Regional Operations Teams</a:t>
            </a:r>
            <a:r>
              <a:rPr lang="en-US" sz="1800" dirty="0"/>
              <a:t> – to understand audience preferences and tailor regional campaigns.</a:t>
            </a:r>
          </a:p>
          <a:p>
            <a:pPr algn="just">
              <a:lnSpc>
                <a:spcPct val="150000"/>
              </a:lnSpc>
            </a:pPr>
            <a:r>
              <a:rPr lang="en-US" sz="1800" b="1" dirty="0"/>
              <a:t>Data Analysts and Business Intelligence Teams</a:t>
            </a:r>
            <a:r>
              <a:rPr lang="en-US" sz="1800" dirty="0"/>
              <a:t> – to leverage insights for performance monitoring and strategic planning.</a:t>
            </a:r>
          </a:p>
          <a:p>
            <a:pPr algn="just">
              <a:lnSpc>
                <a:spcPct val="150000"/>
              </a:lnSpc>
            </a:pPr>
            <a:r>
              <a:rPr lang="en-US" sz="1800" b="1" dirty="0"/>
              <a:t>Researchers and Media Analysts</a:t>
            </a:r>
            <a:r>
              <a:rPr lang="en-US" sz="1800" dirty="0"/>
              <a:t> – to study OTT industry trends and audience behavior patterns.</a:t>
            </a:r>
          </a:p>
          <a:p>
            <a:pPr algn="just">
              <a:lnSpc>
                <a:spcPct val="150000"/>
              </a:lnSpc>
            </a:pPr>
            <a:endParaRPr lang="en-IN" sz="18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9338" y="680674"/>
            <a:ext cx="10046070" cy="802641"/>
          </a:xfrm>
        </p:spPr>
        <p:txBody>
          <a:bodyPr>
            <a:normAutofit/>
          </a:bodyPr>
          <a:lstStyle/>
          <a:p>
            <a:r>
              <a:rPr lang="en-US" sz="4400" b="0" dirty="0"/>
              <a:t>WHO ARE THE END USERS?</a:t>
            </a:r>
            <a:endParaRPr lang="en-IN" sz="3200" b="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467359" y="1586736"/>
            <a:ext cx="9027702" cy="5243448"/>
          </a:xfrm>
        </p:spPr>
        <p:txBody>
          <a:bodyPr/>
          <a:lstStyle/>
          <a:p>
            <a:pPr lvl="1">
              <a:lnSpc>
                <a:spcPct val="150000"/>
              </a:lnSpc>
            </a:pPr>
            <a:r>
              <a:rPr lang="en-US" b="1" dirty="0"/>
              <a:t>Python - </a:t>
            </a:r>
            <a:r>
              <a:rPr lang="en-US" dirty="0"/>
              <a:t> Core Programming Language</a:t>
            </a:r>
          </a:p>
          <a:p>
            <a:pPr lvl="1">
              <a:lnSpc>
                <a:spcPct val="150000"/>
              </a:lnSpc>
            </a:pPr>
            <a:r>
              <a:rPr lang="en-US" b="1" dirty="0"/>
              <a:t>Data Cleaning and Preprocessing – </a:t>
            </a:r>
            <a:r>
              <a:rPr lang="en-US" dirty="0"/>
              <a:t>PANDAS, NumPy</a:t>
            </a:r>
          </a:p>
          <a:p>
            <a:pPr lvl="1">
              <a:lnSpc>
                <a:spcPct val="150000"/>
              </a:lnSpc>
            </a:pPr>
            <a:r>
              <a:rPr lang="en-US" b="1" dirty="0"/>
              <a:t>Data Visualization - </a:t>
            </a:r>
            <a:r>
              <a:rPr lang="en-US" dirty="0"/>
              <a:t>Matplotlib</a:t>
            </a:r>
          </a:p>
          <a:p>
            <a:pPr lvl="1">
              <a:lnSpc>
                <a:spcPct val="150000"/>
              </a:lnSpc>
            </a:pPr>
            <a:r>
              <a:rPr lang="en-US" b="1" dirty="0"/>
              <a:t>Anaconda Jupyter Notebook – </a:t>
            </a:r>
            <a:r>
              <a:rPr lang="en-US" dirty="0"/>
              <a:t>Open-Source Web Application to run Python code.</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789709" y="554198"/>
            <a:ext cx="5306291" cy="847817"/>
          </a:xfrm>
        </p:spPr>
        <p:txBody>
          <a:bodyPr>
            <a:normAutofit/>
          </a:bodyPr>
          <a:lstStyle/>
          <a:p>
            <a:r>
              <a:rPr lang="en-US" sz="4400" b="0"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sz="4400" b="0" dirty="0"/>
              <a:t>RESULTS1</a:t>
            </a:r>
            <a:r>
              <a:rPr lang="en-GB" dirty="0"/>
              <a:t>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69E77245-0119-310B-C06F-62FA3C57C893}"/>
              </a:ext>
            </a:extLst>
          </p:cNvPr>
          <p:cNvPicPr>
            <a:picLocks noChangeAspect="1"/>
          </p:cNvPicPr>
          <p:nvPr/>
        </p:nvPicPr>
        <p:blipFill>
          <a:blip r:embed="rId3"/>
          <a:stretch>
            <a:fillRect/>
          </a:stretch>
        </p:blipFill>
        <p:spPr>
          <a:xfrm>
            <a:off x="414196" y="1416191"/>
            <a:ext cx="6070580" cy="4450690"/>
          </a:xfrm>
          <a:prstGeom prst="rect">
            <a:avLst/>
          </a:prstGeom>
        </p:spPr>
      </p:pic>
      <p:pic>
        <p:nvPicPr>
          <p:cNvPr id="9" name="Picture 8">
            <a:extLst>
              <a:ext uri="{FF2B5EF4-FFF2-40B4-BE49-F238E27FC236}">
                <a16:creationId xmlns:a16="http://schemas.microsoft.com/office/drawing/2014/main" id="{5568E919-3FCA-7A45-9933-997F56ACFF01}"/>
              </a:ext>
            </a:extLst>
          </p:cNvPr>
          <p:cNvPicPr>
            <a:picLocks noChangeAspect="1"/>
          </p:cNvPicPr>
          <p:nvPr/>
        </p:nvPicPr>
        <p:blipFill>
          <a:blip r:embed="rId4"/>
          <a:stretch>
            <a:fillRect/>
          </a:stretch>
        </p:blipFill>
        <p:spPr>
          <a:xfrm>
            <a:off x="6243775" y="1416190"/>
            <a:ext cx="5627243" cy="4450689"/>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61F40-61F5-A9E4-2028-61D27EB38D0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90F1862-D4F3-D9EB-176E-2E2938531BAC}"/>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723A3B93-82D2-A57B-4898-3D9B0C72DC7D}"/>
              </a:ext>
            </a:extLst>
          </p:cNvPr>
          <p:cNvSpPr>
            <a:spLocks noGrp="1"/>
          </p:cNvSpPr>
          <p:nvPr>
            <p:ph type="title"/>
          </p:nvPr>
        </p:nvSpPr>
        <p:spPr>
          <a:xfrm>
            <a:off x="675957" y="370589"/>
            <a:ext cx="2981643" cy="830997"/>
          </a:xfrm>
        </p:spPr>
        <p:txBody>
          <a:bodyPr>
            <a:normAutofit/>
          </a:bodyPr>
          <a:lstStyle/>
          <a:p>
            <a:r>
              <a:rPr lang="en-GB" sz="4400" b="0" dirty="0"/>
              <a:t>RESULTS2</a:t>
            </a:r>
            <a:endParaRPr lang="en-IN" b="0" dirty="0"/>
          </a:p>
        </p:txBody>
      </p:sp>
      <p:sp>
        <p:nvSpPr>
          <p:cNvPr id="7" name="Text Placeholder 30">
            <a:extLst>
              <a:ext uri="{FF2B5EF4-FFF2-40B4-BE49-F238E27FC236}">
                <a16:creationId xmlns:a16="http://schemas.microsoft.com/office/drawing/2014/main" id="{F4C0E530-3AAB-E420-2061-2352FB4AEFB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3F5036B-907B-9AB7-BC47-C7C142E40FA7}"/>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1" name="Picture 10">
            <a:extLst>
              <a:ext uri="{FF2B5EF4-FFF2-40B4-BE49-F238E27FC236}">
                <a16:creationId xmlns:a16="http://schemas.microsoft.com/office/drawing/2014/main" id="{53CFD0ED-F352-FDAE-0B4A-EAF80DDEC519}"/>
              </a:ext>
            </a:extLst>
          </p:cNvPr>
          <p:cNvPicPr>
            <a:picLocks noChangeAspect="1"/>
          </p:cNvPicPr>
          <p:nvPr/>
        </p:nvPicPr>
        <p:blipFill>
          <a:blip r:embed="rId3"/>
          <a:stretch>
            <a:fillRect/>
          </a:stretch>
        </p:blipFill>
        <p:spPr>
          <a:xfrm>
            <a:off x="196846" y="1229155"/>
            <a:ext cx="6599492" cy="5258256"/>
          </a:xfrm>
          <a:prstGeom prst="rect">
            <a:avLst/>
          </a:prstGeom>
        </p:spPr>
      </p:pic>
      <p:pic>
        <p:nvPicPr>
          <p:cNvPr id="13" name="Picture 12">
            <a:extLst>
              <a:ext uri="{FF2B5EF4-FFF2-40B4-BE49-F238E27FC236}">
                <a16:creationId xmlns:a16="http://schemas.microsoft.com/office/drawing/2014/main" id="{98C753BD-4CCF-06BF-8C73-81823363D7B1}"/>
              </a:ext>
            </a:extLst>
          </p:cNvPr>
          <p:cNvPicPr>
            <a:picLocks noChangeAspect="1"/>
          </p:cNvPicPr>
          <p:nvPr/>
        </p:nvPicPr>
        <p:blipFill>
          <a:blip r:embed="rId4"/>
          <a:stretch>
            <a:fillRect/>
          </a:stretch>
        </p:blipFill>
        <p:spPr>
          <a:xfrm>
            <a:off x="6096000" y="1201586"/>
            <a:ext cx="6027942" cy="4244708"/>
          </a:xfrm>
          <a:prstGeom prst="rect">
            <a:avLst/>
          </a:prstGeom>
        </p:spPr>
      </p:pic>
      <p:sp>
        <p:nvSpPr>
          <p:cNvPr id="14" name="TextBox 13">
            <a:extLst>
              <a:ext uri="{FF2B5EF4-FFF2-40B4-BE49-F238E27FC236}">
                <a16:creationId xmlns:a16="http://schemas.microsoft.com/office/drawing/2014/main" id="{3996B3E4-D041-720B-03FC-91FE1E3E4971}"/>
              </a:ext>
            </a:extLst>
          </p:cNvPr>
          <p:cNvSpPr txBox="1"/>
          <p:nvPr/>
        </p:nvSpPr>
        <p:spPr>
          <a:xfrm>
            <a:off x="8065303" y="5471748"/>
            <a:ext cx="2789674" cy="369332"/>
          </a:xfrm>
          <a:prstGeom prst="rect">
            <a:avLst/>
          </a:prstGeom>
          <a:noFill/>
        </p:spPr>
        <p:txBody>
          <a:bodyPr wrap="none" rtlCol="0">
            <a:spAutoFit/>
          </a:bodyPr>
          <a:lstStyle/>
          <a:p>
            <a:r>
              <a:rPr lang="en-US" dirty="0">
                <a:solidFill>
                  <a:srgbClr val="002060"/>
                </a:solidFill>
              </a:rPr>
              <a:t>Year Wise Movie Releases</a:t>
            </a:r>
            <a:endParaRPr lang="en-IN" dirty="0">
              <a:solidFill>
                <a:srgbClr val="002060"/>
              </a:solidFill>
            </a:endParaRPr>
          </a:p>
        </p:txBody>
      </p:sp>
    </p:spTree>
    <p:extLst>
      <p:ext uri="{BB962C8B-B14F-4D97-AF65-F5344CB8AC3E}">
        <p14:creationId xmlns:p14="http://schemas.microsoft.com/office/powerpoint/2010/main" val="390853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7024A6-C6F7-0E13-B5FE-E6A5870DA15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94CC-45AC-6391-C127-232D7FE17E83}"/>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2560D1A-A584-25F8-1F57-468796F22888}"/>
              </a:ext>
            </a:extLst>
          </p:cNvPr>
          <p:cNvSpPr>
            <a:spLocks noGrp="1"/>
          </p:cNvSpPr>
          <p:nvPr>
            <p:ph type="title"/>
          </p:nvPr>
        </p:nvSpPr>
        <p:spPr>
          <a:xfrm>
            <a:off x="675957" y="370589"/>
            <a:ext cx="2981643" cy="830997"/>
          </a:xfrm>
        </p:spPr>
        <p:txBody>
          <a:bodyPr>
            <a:normAutofit/>
          </a:bodyPr>
          <a:lstStyle/>
          <a:p>
            <a:r>
              <a:rPr lang="en-GB" sz="4400" b="0" dirty="0"/>
              <a:t>RESULTS3</a:t>
            </a:r>
            <a:r>
              <a:rPr lang="en-GB" dirty="0"/>
              <a:t> </a:t>
            </a:r>
            <a:endParaRPr lang="en-IN" dirty="0"/>
          </a:p>
        </p:txBody>
      </p:sp>
      <p:sp>
        <p:nvSpPr>
          <p:cNvPr id="7" name="Text Placeholder 30">
            <a:extLst>
              <a:ext uri="{FF2B5EF4-FFF2-40B4-BE49-F238E27FC236}">
                <a16:creationId xmlns:a16="http://schemas.microsoft.com/office/drawing/2014/main" id="{BBD379B3-43F5-BB42-D7EF-5C1FA28E50D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0D8247-EFB8-6C04-BBBF-310CEEF88E4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14" name="Picture 13">
            <a:extLst>
              <a:ext uri="{FF2B5EF4-FFF2-40B4-BE49-F238E27FC236}">
                <a16:creationId xmlns:a16="http://schemas.microsoft.com/office/drawing/2014/main" id="{D1B9C9F1-52E7-0647-A2A3-7185AF66EE7D}"/>
              </a:ext>
            </a:extLst>
          </p:cNvPr>
          <p:cNvPicPr>
            <a:picLocks noChangeAspect="1"/>
          </p:cNvPicPr>
          <p:nvPr/>
        </p:nvPicPr>
        <p:blipFill>
          <a:blip r:embed="rId3"/>
          <a:stretch>
            <a:fillRect/>
          </a:stretch>
        </p:blipFill>
        <p:spPr>
          <a:xfrm>
            <a:off x="1103094" y="1542550"/>
            <a:ext cx="9388654" cy="4351397"/>
          </a:xfrm>
          <a:prstGeom prst="rect">
            <a:avLst/>
          </a:prstGeom>
        </p:spPr>
      </p:pic>
    </p:spTree>
    <p:extLst>
      <p:ext uri="{BB962C8B-B14F-4D97-AF65-F5344CB8AC3E}">
        <p14:creationId xmlns:p14="http://schemas.microsoft.com/office/powerpoint/2010/main" val="3498466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D302F3-5B15-F4B3-4FC0-05D49317B44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5314807-9A27-116F-CC98-E5EEF28F080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BA0845DA-C188-DB03-7162-C74DB64A3678}"/>
              </a:ext>
            </a:extLst>
          </p:cNvPr>
          <p:cNvSpPr>
            <a:spLocks noGrp="1"/>
          </p:cNvSpPr>
          <p:nvPr>
            <p:ph type="title"/>
          </p:nvPr>
        </p:nvSpPr>
        <p:spPr>
          <a:xfrm>
            <a:off x="675957" y="370589"/>
            <a:ext cx="6115368" cy="878622"/>
          </a:xfrm>
        </p:spPr>
        <p:txBody>
          <a:bodyPr>
            <a:normAutofit/>
          </a:bodyPr>
          <a:lstStyle/>
          <a:p>
            <a:r>
              <a:rPr lang="en-GB" dirty="0"/>
              <a:t>GitHub repository </a:t>
            </a:r>
          </a:p>
        </p:txBody>
      </p:sp>
      <p:sp>
        <p:nvSpPr>
          <p:cNvPr id="7" name="Text Placeholder 30">
            <a:extLst>
              <a:ext uri="{FF2B5EF4-FFF2-40B4-BE49-F238E27FC236}">
                <a16:creationId xmlns:a16="http://schemas.microsoft.com/office/drawing/2014/main" id="{9B11EDF8-3FD7-C9FE-2AA8-09208B3BEFC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10" name="Text Placeholder 1">
            <a:extLst>
              <a:ext uri="{FF2B5EF4-FFF2-40B4-BE49-F238E27FC236}">
                <a16:creationId xmlns:a16="http://schemas.microsoft.com/office/drawing/2014/main" id="{8935B953-0B74-DF35-9464-45E8CB01D89D}"/>
              </a:ext>
            </a:extLst>
          </p:cNvPr>
          <p:cNvSpPr>
            <a:spLocks noGrp="1"/>
          </p:cNvSpPr>
          <p:nvPr>
            <p:ph type="body" sz="quarter" idx="12"/>
          </p:nvPr>
        </p:nvSpPr>
        <p:spPr>
          <a:xfrm>
            <a:off x="486182" y="1406106"/>
            <a:ext cx="11384836" cy="2579557"/>
          </a:xfrm>
        </p:spPr>
        <p:txBody>
          <a:bodyPr vert="horz" lIns="91440" tIns="45720" rIns="91440" bIns="45720" rtlCol="0" anchor="t">
            <a:normAutofit/>
          </a:bodyPr>
          <a:lstStyle/>
          <a:p>
            <a:pPr marL="0" indent="0">
              <a:buNone/>
            </a:pPr>
            <a:r>
              <a:rPr lang="en-US" dirty="0">
                <a:solidFill>
                  <a:srgbClr val="FF0000"/>
                </a:solidFill>
              </a:rPr>
              <a:t>https://github.com/ChanduCyber05/VOIS_AICTE_Oct2025_MajorProject_ChandramouleshwarJ.git</a:t>
            </a:r>
          </a:p>
        </p:txBody>
      </p:sp>
    </p:spTree>
    <p:extLst>
      <p:ext uri="{BB962C8B-B14F-4D97-AF65-F5344CB8AC3E}">
        <p14:creationId xmlns:p14="http://schemas.microsoft.com/office/powerpoint/2010/main" val="1596923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3FACE-D55E-9B4A-7A75-15654F5D4FD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761536A-9E87-8208-553B-AFA23F55C6EA}"/>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C5390BF9-A1B3-D0A5-6FE6-4C64A8B75AA9}"/>
              </a:ext>
            </a:extLst>
          </p:cNvPr>
          <p:cNvSpPr>
            <a:spLocks noGrp="1"/>
          </p:cNvSpPr>
          <p:nvPr>
            <p:ph type="title"/>
          </p:nvPr>
        </p:nvSpPr>
        <p:spPr>
          <a:xfrm>
            <a:off x="675957" y="370589"/>
            <a:ext cx="10892066" cy="904781"/>
          </a:xfrm>
        </p:spPr>
        <p:txBody>
          <a:bodyPr>
            <a:noAutofit/>
          </a:bodyPr>
          <a:lstStyle/>
          <a:p>
            <a:r>
              <a:rPr lang="en-IN" sz="3600" dirty="0"/>
              <a:t>Getting started with Basics of Python </a:t>
            </a:r>
            <a:r>
              <a:rPr lang="en-GB" sz="3600" dirty="0"/>
              <a:t>Certificate  </a:t>
            </a:r>
            <a:endParaRPr lang="en-IN" sz="3600" dirty="0"/>
          </a:p>
        </p:txBody>
      </p:sp>
      <p:sp>
        <p:nvSpPr>
          <p:cNvPr id="8" name="Text Placeholder 30">
            <a:extLst>
              <a:ext uri="{FF2B5EF4-FFF2-40B4-BE49-F238E27FC236}">
                <a16:creationId xmlns:a16="http://schemas.microsoft.com/office/drawing/2014/main" id="{81BF57D1-2242-C3F4-D177-EE064D5454A4}"/>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230F869C-348C-6F95-93A4-1FCAAC069D5C}"/>
              </a:ext>
            </a:extLst>
          </p:cNvPr>
          <p:cNvPicPr>
            <a:picLocks noChangeAspect="1"/>
          </p:cNvPicPr>
          <p:nvPr/>
        </p:nvPicPr>
        <p:blipFill>
          <a:blip r:embed="rId3"/>
          <a:stretch>
            <a:fillRect/>
          </a:stretch>
        </p:blipFill>
        <p:spPr>
          <a:xfrm>
            <a:off x="1533498" y="1054359"/>
            <a:ext cx="7843125" cy="5542384"/>
          </a:xfrm>
          <a:prstGeom prst="rect">
            <a:avLst/>
          </a:prstGeom>
        </p:spPr>
      </p:pic>
    </p:spTree>
    <p:extLst>
      <p:ext uri="{BB962C8B-B14F-4D97-AF65-F5344CB8AC3E}">
        <p14:creationId xmlns:p14="http://schemas.microsoft.com/office/powerpoint/2010/main" val="2710602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8"/>
                                        </p:tgtEl>
                                        <p:attrNameLst>
                                          <p:attrName>style.visibility</p:attrName>
                                        </p:attrNameLst>
                                      </p:cBhvr>
                                      <p:to>
                                        <p:strVal val="visible"/>
                                      </p:to>
                                    </p:set>
                                    <p:animEffect transition="in" filter="fade">
                                      <p:cBhvr>
                                        <p:cTn id="14" dur="1000"/>
                                        <p:tgtEl>
                                          <p:spTgt spid="8"/>
                                        </p:tgtEl>
                                      </p:cBhvr>
                                    </p:animEffect>
                                    <p:anim calcmode="lin" valueType="num">
                                      <p:cBhvr>
                                        <p:cTn id="15" dur="1000" fill="hold"/>
                                        <p:tgtEl>
                                          <p:spTgt spid="8"/>
                                        </p:tgtEl>
                                        <p:attrNameLst>
                                          <p:attrName>ppt_x</p:attrName>
                                        </p:attrNameLst>
                                      </p:cBhvr>
                                      <p:tavLst>
                                        <p:tav tm="0">
                                          <p:val>
                                            <p:strVal val="#ppt_x"/>
                                          </p:val>
                                        </p:tav>
                                        <p:tav tm="100000">
                                          <p:val>
                                            <p:strVal val="#ppt_x"/>
                                          </p:val>
                                        </p:tav>
                                      </p:tavLst>
                                    </p:anim>
                                    <p:anim calcmode="lin" valueType="num">
                                      <p:cBhvr>
                                        <p:cTn id="1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CD52E-39EF-82B8-E116-6B0D9B50E1D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0214EFD-3FAC-BE9B-CFBB-2D1FCCED012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5359B88B-4EF4-AA7A-A15C-4B2147671C19}"/>
              </a:ext>
            </a:extLst>
          </p:cNvPr>
          <p:cNvSpPr>
            <a:spLocks noGrp="1"/>
          </p:cNvSpPr>
          <p:nvPr>
            <p:ph type="title"/>
          </p:nvPr>
        </p:nvSpPr>
        <p:spPr>
          <a:xfrm>
            <a:off x="675957" y="370589"/>
            <a:ext cx="10892066" cy="904781"/>
          </a:xfrm>
        </p:spPr>
        <p:txBody>
          <a:bodyPr>
            <a:noAutofit/>
          </a:bodyPr>
          <a:lstStyle/>
          <a:p>
            <a:r>
              <a:rPr lang="en-IN" sz="3600" dirty="0"/>
              <a:t>Data Visualization </a:t>
            </a:r>
            <a:r>
              <a:rPr lang="en-GB" sz="3600" dirty="0"/>
              <a:t>Certificate  </a:t>
            </a:r>
            <a:endParaRPr lang="en-IN" sz="3600" dirty="0"/>
          </a:p>
        </p:txBody>
      </p:sp>
      <p:sp>
        <p:nvSpPr>
          <p:cNvPr id="7" name="Text Placeholder 30">
            <a:extLst>
              <a:ext uri="{FF2B5EF4-FFF2-40B4-BE49-F238E27FC236}">
                <a16:creationId xmlns:a16="http://schemas.microsoft.com/office/drawing/2014/main" id="{C23E8C61-31F1-4380-CEFB-D75448F856D7}"/>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F0577D1-D5B1-726B-4FAB-B353BDE31B12}"/>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9" name="Picture 8">
            <a:extLst>
              <a:ext uri="{FF2B5EF4-FFF2-40B4-BE49-F238E27FC236}">
                <a16:creationId xmlns:a16="http://schemas.microsoft.com/office/drawing/2014/main" id="{632EF6F3-4181-4BE9-797E-DCDF4C6E3F1E}"/>
              </a:ext>
            </a:extLst>
          </p:cNvPr>
          <p:cNvPicPr>
            <a:picLocks noChangeAspect="1"/>
          </p:cNvPicPr>
          <p:nvPr/>
        </p:nvPicPr>
        <p:blipFill>
          <a:blip r:embed="rId3"/>
          <a:stretch>
            <a:fillRect/>
          </a:stretch>
        </p:blipFill>
        <p:spPr>
          <a:xfrm>
            <a:off x="1511559" y="1008106"/>
            <a:ext cx="7819053" cy="5598914"/>
          </a:xfrm>
          <a:prstGeom prst="rect">
            <a:avLst/>
          </a:prstGeom>
        </p:spPr>
      </p:pic>
    </p:spTree>
    <p:extLst>
      <p:ext uri="{BB962C8B-B14F-4D97-AF65-F5344CB8AC3E}">
        <p14:creationId xmlns:p14="http://schemas.microsoft.com/office/powerpoint/2010/main" val="5666845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rot="20622053">
            <a:off x="426000" y="2831063"/>
            <a:ext cx="11340000" cy="700114"/>
          </a:xfrm>
          <a:prstGeom prst="rect">
            <a:avLst/>
          </a:prstGeom>
        </p:spPr>
        <p:txBody>
          <a:bodyPr anchor="ctr">
            <a:noAutofit/>
          </a:bodyPr>
          <a:lstStyle/>
          <a:p>
            <a:pPr algn="ctr"/>
            <a:r>
              <a:rPr lang="en-US" sz="7200" b="1" dirty="0">
                <a:solidFill>
                  <a:schemeClr val="tx1"/>
                </a:solidFill>
              </a:rPr>
              <a:t>Thank you</a:t>
            </a:r>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5D99ABA-76CE-4A8E-B5F0-C051B96628DE}">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603</TotalTime>
  <Words>409</Words>
  <Application>Microsoft Office PowerPoint</Application>
  <PresentationFormat>Widescreen</PresentationFormat>
  <Paragraphs>30</Paragraphs>
  <Slides>12</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Arial</vt:lpstr>
      <vt:lpstr>Calibri</vt:lpstr>
      <vt:lpstr>Trebuchet MS</vt:lpstr>
      <vt:lpstr>Wingdings</vt:lpstr>
      <vt:lpstr>Wingdings 3</vt:lpstr>
      <vt:lpstr>Facet</vt:lpstr>
      <vt:lpstr>Netflix Data Analysis Project</vt:lpstr>
      <vt:lpstr>PROBLEM  STATEMENT</vt:lpstr>
      <vt:lpstr>PROJECT DESCRIPTION</vt:lpstr>
      <vt:lpstr>WHO ARE THE END USERS?</vt:lpstr>
      <vt:lpstr>TECHNOLOGY USED</vt:lpstr>
      <vt:lpstr>RESULTS1 </vt:lpstr>
      <vt:lpstr>RESULTS2</vt:lpstr>
      <vt:lpstr>RESULTS3 </vt:lpstr>
      <vt:lpstr>GitHub repository </vt:lpstr>
      <vt:lpstr>Getting started with Basics of Python Certificate  </vt:lpstr>
      <vt:lpstr>Data Visualization Certificate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Chandramouleshwar J</cp:lastModifiedBy>
  <cp:revision>112</cp:revision>
  <dcterms:created xsi:type="dcterms:W3CDTF">2021-07-11T13:13:15Z</dcterms:created>
  <dcterms:modified xsi:type="dcterms:W3CDTF">2025-10-09T11:39:25Z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